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65327c0ee2545b0" /><Relationship Type="http://schemas.openxmlformats.org/officeDocument/2006/relationships/extended-properties" Target="/docProps/app.xml" Id="R66f348a9895d45c2" /><Relationship Type="http://schemas.openxmlformats.org/officeDocument/2006/relationships/officeDocument" Target="/ppt/presentation.xml" Id="R366d4485177e422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ffcf25e1d234cdf"/>
  </p:sldMasterIdLst>
  <p:notesMasterIdLst>
    <p:notesMasterId xmlns:r="http://schemas.openxmlformats.org/officeDocument/2006/relationships" r:id="Re1a451735d464944"/>
  </p:notesMasterIdLst>
  <p:sldIdLst>
    <p:sldId xmlns:r="http://schemas.openxmlformats.org/officeDocument/2006/relationships" id="256" r:id="R0f7a57dc94404f21"/>
    <p:sldId xmlns:r="http://schemas.openxmlformats.org/officeDocument/2006/relationships" id="257" r:id="R0849954088824e53"/>
    <p:sldId xmlns:r="http://schemas.openxmlformats.org/officeDocument/2006/relationships" id="258" r:id="R2911c23b6fd1461e"/>
    <p:sldId xmlns:r="http://schemas.openxmlformats.org/officeDocument/2006/relationships" id="259" r:id="R886e1ec421e14aee"/>
    <p:sldId xmlns:r="http://schemas.openxmlformats.org/officeDocument/2006/relationships" id="260" r:id="Rf86431ea9f3d4083"/>
    <p:sldId xmlns:r="http://schemas.openxmlformats.org/officeDocument/2006/relationships" id="261" r:id="R12406d389ce149cf"/>
    <p:sldId xmlns:r="http://schemas.openxmlformats.org/officeDocument/2006/relationships" id="262" r:id="Rd454d15152d0439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fcf25e1d234cdf" /><Relationship Type="http://schemas.openxmlformats.org/officeDocument/2006/relationships/theme" Target="/ppt/theme/theme1.xml" Id="R8bde39c755bd40c5" /><Relationship Type="http://schemas.openxmlformats.org/officeDocument/2006/relationships/notesMaster" Target="/ppt/notesMasters/notesMaster1.xml" Id="Re1a451735d464944" /><Relationship Type="http://schemas.openxmlformats.org/officeDocument/2006/relationships/presProps" Target="/ppt/presProps.xml" Id="R48032ae1597a4e99" /><Relationship Type="http://schemas.openxmlformats.org/officeDocument/2006/relationships/viewProps" Target="/ppt/viewProps.xml" Id="R6a6ed8f950f04c58" /><Relationship Type="http://schemas.openxmlformats.org/officeDocument/2006/relationships/tableStyles" Target="/ppt/tableStyles.xml" Id="R7c65beaa6ef94db3" /><Relationship Type="http://schemas.openxmlformats.org/officeDocument/2006/relationships/slide" Target="/ppt/slides/slide1.xml" Id="R0f7a57dc94404f21" /><Relationship Type="http://schemas.openxmlformats.org/officeDocument/2006/relationships/slide" Target="/ppt/slides/slide2.xml" Id="R0849954088824e53" /><Relationship Type="http://schemas.openxmlformats.org/officeDocument/2006/relationships/slide" Target="/ppt/slides/slide3.xml" Id="R2911c23b6fd1461e" /><Relationship Type="http://schemas.openxmlformats.org/officeDocument/2006/relationships/slide" Target="/ppt/slides/slide4.xml" Id="R886e1ec421e14aee" /><Relationship Type="http://schemas.openxmlformats.org/officeDocument/2006/relationships/slide" Target="/ppt/slides/slide5.xml" Id="Rf86431ea9f3d4083" /><Relationship Type="http://schemas.openxmlformats.org/officeDocument/2006/relationships/slide" Target="/ppt/slides/slide6.xml" Id="R12406d389ce149cf" /><Relationship Type="http://schemas.openxmlformats.org/officeDocument/2006/relationships/slide" Target="/ppt/slides/slide7.xml" Id="Rd454d15152d0439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6e097f15cd54495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f2c7de66b8a4cc9" /><Relationship Type="http://schemas.openxmlformats.org/officeDocument/2006/relationships/notesMaster" Target="/ppt/notesMasters/notesMaster1.xml" Id="Redda129458924d7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a8eae244a2e4f45" /><Relationship Type="http://schemas.openxmlformats.org/officeDocument/2006/relationships/notesMaster" Target="/ppt/notesMasters/notesMaster1.xml" Id="R4518d88d34254d0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17dc84394d44f8f" /><Relationship Type="http://schemas.openxmlformats.org/officeDocument/2006/relationships/notesMaster" Target="/ppt/notesMasters/notesMaster1.xml" Id="R142abf41a4cd4b3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02e837ea2d54f18" /><Relationship Type="http://schemas.openxmlformats.org/officeDocument/2006/relationships/notesMaster" Target="/ppt/notesMasters/notesMaster1.xml" Id="R44abe85b05204e0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eb395c7fd7e4a7b" /><Relationship Type="http://schemas.openxmlformats.org/officeDocument/2006/relationships/notesMaster" Target="/ppt/notesMasters/notesMaster1.xml" Id="R7ed014a41b9348a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1b0f1140c494750" /><Relationship Type="http://schemas.openxmlformats.org/officeDocument/2006/relationships/notesMaster" Target="/ppt/notesMasters/notesMaster1.xml" Id="Re245d9cd898144d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3e2a13651b64d9c" /><Relationship Type="http://schemas.openxmlformats.org/officeDocument/2006/relationships/notesMaster" Target="/ppt/notesMasters/notesMaster1.xml" Id="Rce83d643b2404b1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44781e00c14046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5c6f1deef30a44ea" /><Relationship Type="http://schemas.openxmlformats.org/officeDocument/2006/relationships/slideLayout" Target="/ppt/slideLayouts/slideLayout2.xml" Id="R52626fd8ba45435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626fd8ba45435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09410be435c45ed" /><Relationship Type="http://schemas.openxmlformats.org/officeDocument/2006/relationships/notesSlide" Target="/ppt/notesSlides/notesSlide1.xml" Id="Ra369bc4ebe1c4cc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b1332de24334a33" /><Relationship Type="http://schemas.openxmlformats.org/officeDocument/2006/relationships/notesSlide" Target="/ppt/notesSlides/notesSlide2.xml" Id="Re37c4f6c8387490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5816b7f715d4ef8" /><Relationship Type="http://schemas.openxmlformats.org/officeDocument/2006/relationships/notesSlide" Target="/ppt/notesSlides/notesSlide3.xml" Id="R38014f4cc981496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782487905ee49eb" /><Relationship Type="http://schemas.openxmlformats.org/officeDocument/2006/relationships/notesSlide" Target="/ppt/notesSlides/notesSlide4.xml" Id="Rf8470d5233a6453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cec0b4eff92404e" /><Relationship Type="http://schemas.openxmlformats.org/officeDocument/2006/relationships/notesSlide" Target="/ppt/notesSlides/notesSlide5.xml" Id="Rd0a361782d5d4fc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b59ad0460b24532" /><Relationship Type="http://schemas.openxmlformats.org/officeDocument/2006/relationships/notesSlide" Target="/ppt/notesSlides/notesSlide6.xml" Id="Rd497bcf0a4d3443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cb68f5330d74f60" /><Relationship Type="http://schemas.openxmlformats.org/officeDocument/2006/relationships/notesSlide" Target="/ppt/notesSlides/notesSlide7.xml" Id="Red2b2ffb3961450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7B3AB7F-21EE-4042-A3A1-941456670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9C7E7E-F9BA-44DB-906D-7575EEBE1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B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2FCAFE-5800-4C83-AED4-DAF3C26BD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447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C7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C7D"/>
                </a:solidFill>
                <a:latin typeface="Aptos"/>
                <a:ea typeface="Aptos"/>
                <a:cs typeface="Aptos"/>
              </a:rPr>
              <a:t>World Cup 2026 Predictor logic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A806C1-B71D-40AE-8EEB-7D8AAF95C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B6B5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6B5E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B24D5A-784F-48D0-B84D-3224290AC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6B5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6B5E"/>
                </a:solidFill>
                <a:latin typeface="Aptos"/>
                <a:ea typeface="Aptos"/>
                <a:cs typeface="Aptos"/>
              </a:rPr>
              <a:t>WORLD CUP 2026 PREDICTOR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C1C994-3F69-4E40-926C-321637833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90600"/>
            <a:ext cx="8001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212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8212F"/>
                </a:solidFill>
                <a:latin typeface="Aptos Display"/>
                <a:ea typeface="Aptos Display"/>
                <a:cs typeface="Aptos Display"/>
              </a:rPr>
              <a:t>Current simulation logic is browser-state driven, with Flask providing ratings, teams, and schedule context.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3FD592-D9FC-4268-A8D8-3B7ECB5A0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81250"/>
            <a:ext cx="685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C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C7D"/>
                </a:solidFill>
                <a:latin typeface="Aptos"/>
                <a:ea typeface="Aptos"/>
                <a:cs typeface="Aptos"/>
              </a:rPr>
              <a:t>This deck documents how the existing code turns group ordering into bracket outcomes, probabilities, score estimates, and a full Match 1-104 CSV export.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D3D783-D858-4DCF-9A3E-2B1E55744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543300"/>
            <a:ext cx="1200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B6B5E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6B5E"/>
                </a:solidFill>
                <a:latin typeface="Aptos Display"/>
                <a:ea typeface="Aptos Display"/>
                <a:cs typeface="Aptos Display"/>
              </a:rPr>
              <a:t>48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4C441A-A002-4778-9A9A-DC9D8561C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71925"/>
            <a:ext cx="1200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F6C7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6C7D"/>
                </a:solidFill>
                <a:latin typeface="Aptos"/>
                <a:ea typeface="Aptos"/>
                <a:cs typeface="Aptos"/>
              </a:rPr>
              <a:t>teams from Flask template 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CE1CCA-44B3-4EAA-B8F7-BDDDFBD6B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43300"/>
            <a:ext cx="1409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B6B5E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6B5E"/>
                </a:solidFill>
                <a:latin typeface="Aptos Display"/>
                <a:ea typeface="Aptos Display"/>
                <a:cs typeface="Aptos Display"/>
              </a:rPr>
              <a:t>104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9A20FB-FFFB-4217-BD8D-7ADCFF59A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71925"/>
            <a:ext cx="1409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F6C7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6C7D"/>
                </a:solidFill>
                <a:latin typeface="Aptos"/>
                <a:ea typeface="Aptos"/>
                <a:cs typeface="Aptos"/>
              </a:rPr>
              <a:t>scheduled matches in export scope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801694-5FC3-49F2-8487-646B0B6D1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543300"/>
            <a:ext cx="1200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B6B5E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6B5E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EF146F-119C-46E2-AE0A-4DAF2836F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971925"/>
            <a:ext cx="1200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F6C7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6C7D"/>
                </a:solidFill>
                <a:latin typeface="Aptos"/>
                <a:ea typeface="Aptos"/>
                <a:cs typeface="Aptos"/>
              </a:rPr>
              <a:t>parallel UI modes: Full + Guided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F543EB-8F33-4D5F-830C-0FA54DBF1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76750"/>
            <a:ext cx="285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58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6D34AA-381B-4102-A7D2-823458599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91050"/>
            <a:ext cx="2590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app.py renders groups + schedule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DD9BDD-B1F6-4B2C-B3A2-82A1E1EF2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476750"/>
            <a:ext cx="285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58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BC9175-33F0-41E3-8378-72F49DF1D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591050"/>
            <a:ext cx="2590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static JS owns simulation state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C73DA8-D9E7-4E1B-915E-DCE29C44F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476750"/>
            <a:ext cx="285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58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AE27E1-50D7-4CAA-BC05-AE3F75BB6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591050"/>
            <a:ext cx="2590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CSV is generated in browser</a:t>
            </a:r>
          </a:p>
        </p:txBody>
      </p:sp>
    </p:spTree>
    <p:extLst>
      <p:ext uri="{BB962C8B-B14F-4D97-AF65-F5344CB8AC3E}">
        <p14:creationId xmlns:p14="http://schemas.microsoft.com/office/powerpoint/2010/main" val="141896452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5D59AE-C8B6-4F4B-A1C7-A794DCD8B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5C6528-7C84-4545-BCA8-B2BB32F35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B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096979-0861-47E8-A8A3-9C64D7921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447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C7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C7D"/>
                </a:solidFill>
                <a:latin typeface="Aptos"/>
                <a:ea typeface="Aptos"/>
                <a:cs typeface="Aptos"/>
              </a:rPr>
              <a:t>World Cup 2026 Predictor logic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D5DB8B-0A12-49CC-86DD-73901C8BD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B6B5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6B5E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01D4D82-9AF4-44CF-9D6E-0EE97A929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A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A3A9640-D49A-4807-B2E3-A5D982E76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6B5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6B5E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3EFE9F-DB8F-4BE2-8D51-8CB750DED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8858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12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8212F"/>
                </a:solidFill>
                <a:latin typeface="Aptos Display"/>
                <a:ea typeface="Aptos Display"/>
                <a:cs typeface="Aptos Display"/>
              </a:rPr>
              <a:t>The Flask layer is intentionally thin; the browser owns simulation behavior.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5EF4AA-043A-44C8-B714-E19CB037C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33550"/>
            <a:ext cx="8572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C7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C7D"/>
                </a:solidFill>
                <a:latin typeface="Aptos"/>
                <a:ea typeface="Aptos"/>
                <a:cs typeface="Aptos"/>
              </a:rPr>
              <a:t>Server routes prepare data, then static JavaScript handles ranking, winner cascades, and CSV assembly.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CA8C96-777F-44C1-8E94-CA717D221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000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58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11577C-ACFD-4B28-A954-5ACDEA83D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3365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6B5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6B5E"/>
                </a:solidFill>
                <a:latin typeface="Aptos"/>
                <a:ea typeface="Aptos"/>
                <a:cs typeface="Aptos"/>
              </a:rPr>
              <a:t>Data files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1D78E4-7FCA-4305-9261-36B1EB2CB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16573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results.csv, shootouts.csv, former_names.csv, schedule_data.py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12DEED-C0EB-4FA5-B033-CBB70CBB5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943225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A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4AD5E1-25F6-45DC-9EF9-C53528074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190750"/>
            <a:ext cx="2333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58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1B10DA-8343-42F8-9053-F722DE8C0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343150"/>
            <a:ext cx="19907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6B5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6B5E"/>
                </a:solidFill>
                <a:latin typeface="Aptos"/>
                <a:ea typeface="Aptos"/>
                <a:cs typeface="Aptos"/>
              </a:rPr>
              <a:t>Python model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7A9A3F-B440-458D-8880-C67470EC3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647950"/>
            <a:ext cx="19907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build_team_ratings() converts FIFA points and historical results into Elo-style ratings.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2F96FE-CAA9-4B0D-A638-55FE4F4D8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943225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A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EC3337-8F74-4850-B485-949D70E91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90750"/>
            <a:ext cx="2381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58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C7E8F5-63A7-4957-9C3D-CD9150388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43150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6B5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6B5E"/>
                </a:solidFill>
                <a:latin typeface="Aptos"/>
                <a:ea typeface="Aptos"/>
                <a:cs typeface="Aptos"/>
              </a:rPr>
              <a:t>Flask templates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2270A8-ED52-4D74-8EB5-447D28541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47950"/>
            <a:ext cx="2038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index(), guided(), schedule() inject WORLD_CUP_GROUPS and MATCH_SCHEDULE JSON.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1151FF-57E3-4E80-941F-1B3BF97C5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943225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A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9FB807-8583-40DD-8BD8-49B237438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190750"/>
            <a:ext cx="2190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58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348B4E-51B7-4621-8C3F-9C4A05E04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343150"/>
            <a:ext cx="1847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6B5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6B5E"/>
                </a:solidFill>
                <a:latin typeface="Aptos"/>
                <a:ea typeface="Aptos"/>
                <a:cs typeface="Aptos"/>
              </a:rPr>
              <a:t>Browser state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3FF119-67F4-4436-8E19-E6FA466FB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647950"/>
            <a:ext cx="18478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Maps and arrays track group order, third-place order, and round winners.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9E2998-201C-4B24-8AF3-C4F75D443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419600"/>
            <a:ext cx="5619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4EA76A-E149-402A-B620-FA6259311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629150"/>
            <a:ext cx="521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Design implication: there is no server-side simulation result object. Export must read the same client state the UI renders.</a:t>
            </a:r>
          </a:p>
        </p:txBody>
      </p:sp>
    </p:spTree>
    <p:extLst>
      <p:ext uri="{BB962C8B-B14F-4D97-AF65-F5344CB8AC3E}">
        <p14:creationId xmlns:p14="http://schemas.microsoft.com/office/powerpoint/2010/main" val="178874443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D66521-B641-48FE-A7C8-CC71C77D7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4EC7AB-67C3-405D-8174-15F1544C2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B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599842-9CC9-4728-B4A1-605398A1A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447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C7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C7D"/>
                </a:solidFill>
                <a:latin typeface="Aptos"/>
                <a:ea typeface="Aptos"/>
                <a:cs typeface="Aptos"/>
              </a:rPr>
              <a:t>World Cup 2026 Predictor logic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C550B5-EBEB-4C3C-A337-37C21FBCB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B6B5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6B5E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FCFDDDE-AABB-440F-B985-A61251C59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A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4CB73D0-9C05-44CA-B12E-0585326F2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6B5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6B5E"/>
                </a:solidFill>
                <a:latin typeface="Aptos"/>
                <a:ea typeface="Aptos"/>
                <a:cs typeface="Aptos"/>
              </a:rPr>
              <a:t>GROUP FLOW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7EF54F-BE5E-4C87-B86D-9E9F4E7BF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8858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12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8212F"/>
                </a:solidFill>
                <a:latin typeface="Aptos Display"/>
                <a:ea typeface="Aptos Display"/>
                <a:cs typeface="Aptos Display"/>
              </a:rPr>
              <a:t>Group ordering creates the entrant contract for the Round of 32.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3997A1-A7D5-4958-B83A-C55BC2060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33550"/>
            <a:ext cx="8572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C7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C7D"/>
                </a:solidFill>
                <a:latin typeface="Aptos"/>
                <a:ea typeface="Aptos"/>
                <a:cs typeface="Aptos"/>
              </a:rPr>
              <a:t>Manual drag-and-drop and Simulate all both update groupState, then bracket slots are recomputed from qualifiers.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E7A2FA-FB7D-424D-9557-452A666E6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16954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58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7B1DC3-D752-4552-932F-596833997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B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F1D051-E95D-45F2-8F22-120C664CA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67050"/>
            <a:ext cx="1390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Start with group teams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AF49F1-4AEC-4319-91B5-02A30CBBA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62350"/>
            <a:ext cx="1390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C7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C7D"/>
                </a:solidFill>
                <a:latin typeface="Aptos"/>
                <a:ea typeface="Aptos"/>
                <a:cs typeface="Aptos"/>
              </a:rPr>
              <a:t>WORLD_CUP_GROUPS is rendered from Flask with flags, codes, and ratings.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538E13-892B-4A32-BB23-14DC60FF5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35280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A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5EAA8F-648A-4547-B481-2ED77C153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381250"/>
            <a:ext cx="16954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58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DF954F-F286-4632-BAC2-F9BC8792C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55270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B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73AADB-0F12-4514-85B5-4C1346612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067050"/>
            <a:ext cx="1390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Rank or simulate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B55A80-122E-4493-BBAF-0A6001E45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562350"/>
            <a:ext cx="1390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C7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C7D"/>
                </a:solidFill>
                <a:latin typeface="Aptos"/>
                <a:ea typeface="Aptos"/>
                <a:cs typeface="Aptos"/>
              </a:rPr>
              <a:t>simulateGroup() sorts teams by accumulated pairwise win probabilities.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D21724-926F-44EC-B95C-7F7AC7C9C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35280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A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233D0C-C8EA-42E4-8059-C82978589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381250"/>
            <a:ext cx="16954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58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64FB0E-8A1A-416B-8D77-0D6B271B4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55270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B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80BF4D-32A4-4EC7-9569-31A414CBA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067050"/>
            <a:ext cx="1390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Extract qualifiers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D1EE5B-433F-47F8-87AC-57C238D82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562350"/>
            <a:ext cx="1390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C7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C7D"/>
                </a:solidFill>
                <a:latin typeface="Aptos"/>
                <a:ea typeface="Aptos"/>
                <a:cs typeface="Aptos"/>
              </a:rPr>
              <a:t>getQualifiers() assigns winner, runner-up, third, and seed labels.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292019-4E15-475D-A7CB-903249CF6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35280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A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885FE2-3D1B-48C1-B846-F54C76E0F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81250"/>
            <a:ext cx="16954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58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3290F2-8419-43BB-8309-A8B932E75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5270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B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C0B6B3-71E6-4B09-A087-49405A2A6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67050"/>
            <a:ext cx="1390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Assign best thirds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A64611-4C68-44D2-9D47-1A22A6FDA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562350"/>
            <a:ext cx="1390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C7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C7D"/>
                </a:solidFill>
                <a:latin typeface="Aptos"/>
                <a:ea typeface="Aptos"/>
                <a:cs typeface="Aptos"/>
              </a:rPr>
              <a:t>Full view uses first eight groups; Guided view lets users rank all third-place teams.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950A2D-E6DD-41AD-BDF1-D144A1264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35280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A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B05DED8-6586-4681-A680-0EA7071A9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381250"/>
            <a:ext cx="16954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58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C97699C-31B9-4006-9E62-BA21EA2DC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55270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B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6D25FF3-C4C9-4E09-A1F9-89B7147B1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067050"/>
            <a:ext cx="1390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Build Round of 32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20DBB36-A08F-43A5-B718-626BFE09D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562350"/>
            <a:ext cx="1390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C7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C7D"/>
                </a:solidFill>
                <a:latin typeface="Aptos"/>
                <a:ea typeface="Aptos"/>
                <a:cs typeface="Aptos"/>
              </a:rPr>
              <a:t>getBracketRounds() maps seeds into the tournament bracket structure.</a:t>
            </a:r>
          </a:p>
        </p:txBody>
      </p:sp>
    </p:spTree>
    <p:extLst>
      <p:ext uri="{BB962C8B-B14F-4D97-AF65-F5344CB8AC3E}">
        <p14:creationId xmlns:p14="http://schemas.microsoft.com/office/powerpoint/2010/main" val="165146386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8C1EAA-99F2-41D7-B588-8A36D1F34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C44877-A02E-44F0-B149-3689B3278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B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E5A712-7B3F-4EF3-9B1A-D834A94BC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447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C7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C7D"/>
                </a:solidFill>
                <a:latin typeface="Aptos"/>
                <a:ea typeface="Aptos"/>
                <a:cs typeface="Aptos"/>
              </a:rPr>
              <a:t>World Cup 2026 Predictor logic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0EA54E-BA0E-4492-94D5-325C9E07A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B6B5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6B5E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07B84BB-55BE-4C19-8F73-F79616D9D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A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620323C-D58C-4C15-91DA-EFDA5BD9E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6B5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6B5E"/>
                </a:solidFill>
                <a:latin typeface="Aptos"/>
                <a:ea typeface="Aptos"/>
                <a:cs typeface="Aptos"/>
              </a:rPr>
              <a:t>MODEL LOGIC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39FA77-2C33-4141-926E-544025997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8858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12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8212F"/>
                </a:solidFill>
                <a:latin typeface="Aptos Display"/>
                <a:ea typeface="Aptos Display"/>
                <a:cs typeface="Aptos Display"/>
              </a:rPr>
              <a:t>Probabilities are deterministic Elo expectations, not random Monte Carlo samples.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1A4C73-7691-4794-84A9-2F8D475D2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33550"/>
            <a:ext cx="8572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C7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C7D"/>
                </a:solidFill>
                <a:latin typeface="Aptos"/>
                <a:ea typeface="Aptos"/>
                <a:cs typeface="Aptos"/>
              </a:rPr>
              <a:t>The current UI predicts winners by comparing each team's win probability against 50%.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4FAA7C-CA4F-4136-82A8-C45C6321A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50"/>
            <a:ext cx="34290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58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493721-426B-474A-B838-1BBA9C53B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3086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6B5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6B5E"/>
                </a:solidFill>
                <a:latin typeface="Aptos"/>
                <a:ea typeface="Aptos"/>
                <a:cs typeface="Aptos"/>
              </a:rPr>
              <a:t>Rating construction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75FBBB-4D94-4B78-A5E0-60859073E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86050"/>
            <a:ext cx="30861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match_model.py starts from FIFA points, then updates tracked teams with historical results, recency weighting, tournament weighting, and goal-margin multipliers.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0CA917-A36D-4EFF-BF12-D8DD66918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28850"/>
            <a:ext cx="34290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58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D250CF-F914-4D86-B88B-FCF168C10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81250"/>
            <a:ext cx="3086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6B5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6B5E"/>
                </a:solidFill>
                <a:latin typeface="Aptos"/>
                <a:ea typeface="Aptos"/>
                <a:cs typeface="Aptos"/>
              </a:rPr>
              <a:t>Win probability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66F093-B432-4EE4-81E4-14E900272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86050"/>
            <a:ext cx="30861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winProbability(team, opponent) = 1 / (1 + 10 ^ ((opponent.rating - team.rating) / 400))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475421-25D0-4311-93C0-3A85F0174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28850"/>
            <a:ext cx="31432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58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146594-EFA6-4538-A77A-C4E91401A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81250"/>
            <a:ext cx="2800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6B5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6B5E"/>
                </a:solidFill>
                <a:latin typeface="Aptos"/>
                <a:ea typeface="Aptos"/>
                <a:cs typeface="Aptos"/>
              </a:rPr>
              <a:t>Predicted result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6009A3-6246-4C9A-BA06-88A79077A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86050"/>
            <a:ext cx="28003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selected winner is the user pick or deterministic favorite. Export goals are estimated from expected-goals logic and adjusted so knockout winners do not draw.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018154-DD63-48EC-85D7-BAEF9F928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244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E244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9E2444"/>
                </a:solidFill>
                <a:latin typeface="Aptos"/>
                <a:ea typeface="Aptos"/>
                <a:cs typeface="Aptos"/>
              </a:rPr>
              <a:t>Important semantic boundary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196440-F4B2-46D2-B19B-7A7A15400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0150"/>
            <a:ext cx="723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The exported goal score is a derived estimate for reporting, not a stored simulated match event from a stochastic engine.</a:t>
            </a:r>
          </a:p>
        </p:txBody>
      </p:sp>
    </p:spTree>
    <p:extLst>
      <p:ext uri="{BB962C8B-B14F-4D97-AF65-F5344CB8AC3E}">
        <p14:creationId xmlns:p14="http://schemas.microsoft.com/office/powerpoint/2010/main" val="130566311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A0840D-441D-466B-A8C9-507DEA973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B569E0-9B67-441F-B623-505FC6C3E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B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430348-E783-4FCB-811D-72ABF68DC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447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C7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C7D"/>
                </a:solidFill>
                <a:latin typeface="Aptos"/>
                <a:ea typeface="Aptos"/>
                <a:cs typeface="Aptos"/>
              </a:rPr>
              <a:t>World Cup 2026 Predictor logic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44B124-55AB-45D5-BE77-AA7E7802B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B6B5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6B5E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B9EEE83-2DC5-48E7-B48B-2644196F4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A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584C84E-A192-42B3-8BCE-5A4686F41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6B5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6B5E"/>
                </a:solidFill>
                <a:latin typeface="Aptos"/>
                <a:ea typeface="Aptos"/>
                <a:cs typeface="Aptos"/>
              </a:rPr>
              <a:t>BRACKET STATE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D578BB-545A-4B59-ADE2-42F0E7DFF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8858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12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8212F"/>
                </a:solidFill>
                <a:latin typeface="Aptos Display"/>
                <a:ea typeface="Aptos Display"/>
                <a:cs typeface="Aptos Display"/>
              </a:rPr>
              <a:t>Knockout winners form a cascade; upstream edits clear downstream outcomes.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8AD2B2-9D10-4AC6-A5B4-80A72CD88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33550"/>
            <a:ext cx="8572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C7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C7D"/>
                </a:solidFill>
                <a:latin typeface="Aptos"/>
                <a:ea typeface="Aptos"/>
                <a:cs typeface="Aptos"/>
              </a:rPr>
              <a:t>This keeps the visible bracket internally consistent when a user changes an earlier match.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4152B3-EAE5-43EE-B449-121F4A35E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619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58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EB7AA9-CF5F-4483-8CF3-26AE4D3ED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33650"/>
            <a:ext cx="1276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6B5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6B5E"/>
                </a:solidFill>
                <a:latin typeface="Aptos"/>
                <a:ea typeface="Aptos"/>
                <a:cs typeface="Aptos"/>
              </a:rPr>
              <a:t>Round of 32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E086A3-27DC-4326-A772-AD2F568F7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38450"/>
            <a:ext cx="1276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16 winners\nseeded from groups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FFB064-2A3A-40F8-AEDD-F9B284EA5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9527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A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3C8E41-A4CD-4FC8-962B-B612EB37D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571750"/>
            <a:ext cx="1619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58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ADEFC9-B4E6-419E-924A-7AA9EDFF5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724150"/>
            <a:ext cx="1276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6B5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6B5E"/>
                </a:solidFill>
                <a:latin typeface="Aptos"/>
                <a:ea typeface="Aptos"/>
                <a:cs typeface="Aptos"/>
              </a:rPr>
              <a:t>Round of 16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2F35AC-5BB5-48E8-BF90-E88344375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028950"/>
            <a:ext cx="1276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8 winners\nfed by previous round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65AFBC-8901-4330-912D-B0A3F017A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1432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A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62F8B0-4D82-4EB5-B8B2-612D556EF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62250"/>
            <a:ext cx="1619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58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088065-6C4A-4737-AB38-C12C7B4B5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914650"/>
            <a:ext cx="1276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6B5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6B5E"/>
                </a:solidFill>
                <a:latin typeface="Aptos"/>
                <a:ea typeface="Aptos"/>
                <a:cs typeface="Aptos"/>
              </a:rPr>
              <a:t>Quarter-finals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0354DC-9C3E-4AF0-B8A0-8615F4EF3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219450"/>
            <a:ext cx="1276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4 winners\nfed by previous round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413BE9-CCB5-40C5-BCDE-284DC19BB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3337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A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46231F-79A5-4058-B795-FEAC9B5AE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952750"/>
            <a:ext cx="1619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58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164904-0502-4B49-845A-10A7B9D0F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105150"/>
            <a:ext cx="1276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6B5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6B5E"/>
                </a:solidFill>
                <a:latin typeface="Aptos"/>
                <a:ea typeface="Aptos"/>
                <a:cs typeface="Aptos"/>
              </a:rPr>
              <a:t>Semi-finals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BE3469-E02B-4FA8-A3C3-B48388911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409950"/>
            <a:ext cx="1276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2 winners\nfed by previous round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2C46B3-5291-4815-9F42-C571FD4B7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5242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A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70EB71-4FF5-433A-AC3C-468C0A0DC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43250"/>
            <a:ext cx="1619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58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C10557-9CAE-4258-AB4A-75E729BD4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295650"/>
            <a:ext cx="1276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6B5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6B5E"/>
                </a:solidFill>
                <a:latin typeface="Aptos"/>
                <a:ea typeface="Aptos"/>
                <a:cs typeface="Aptos"/>
              </a:rPr>
              <a:t>Final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BEF7E2-6023-450F-9F2D-4B8E39697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600450"/>
            <a:ext cx="1276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1 champion\nfed by previous round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1B96A5-8340-4559-AD57-E9FA5B61C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19650"/>
            <a:ext cx="9239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E9F3DE-03E4-4B18-B3DE-F82915F84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10150"/>
            <a:ext cx="876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clearDependentWinners(round) blanks every later winners[roundKey] array after the edited round, forcing subsequent matches to be re-picked or re-simulated.</a:t>
            </a:r>
          </a:p>
        </p:txBody>
      </p:sp>
    </p:spTree>
    <p:extLst>
      <p:ext uri="{BB962C8B-B14F-4D97-AF65-F5344CB8AC3E}">
        <p14:creationId xmlns:p14="http://schemas.microsoft.com/office/powerpoint/2010/main" val="84083948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9D5FDD-545A-4E98-A1D8-830B00431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95E63A-FDDC-458A-8DE9-E75712AA0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B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6FC24B-D8C3-4A81-9B28-0F1BF40A0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447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C7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C7D"/>
                </a:solidFill>
                <a:latin typeface="Aptos"/>
                <a:ea typeface="Aptos"/>
                <a:cs typeface="Aptos"/>
              </a:rPr>
              <a:t>World Cup 2026 Predictor logic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8834BB-6967-45D0-A1E8-4AECED630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B6B5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6B5E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B9206A4-C741-4E33-890F-DF5D3AEBE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A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5B49692-1CFB-41DD-94B6-AAA9096E1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6B5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6B5E"/>
                </a:solidFill>
                <a:latin typeface="Aptos"/>
                <a:ea typeface="Aptos"/>
                <a:cs typeface="Aptos"/>
              </a:rPr>
              <a:t>CSV EXPORT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F1E0D6-AB34-4183-9402-F3918D645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8858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12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8212F"/>
                </a:solidFill>
                <a:latin typeface="Aptos Display"/>
                <a:ea typeface="Aptos Display"/>
                <a:cs typeface="Aptos Display"/>
              </a:rPr>
              <a:t>The export now combines scheduled group fixtures with current bracket state through Match 104.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3FFA2A-F8EA-41B5-AB8E-3086FBA4D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33550"/>
            <a:ext cx="8572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C7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C7D"/>
                </a:solidFill>
                <a:latin typeface="Aptos"/>
                <a:ea typeface="Aptos"/>
                <a:cs typeface="Aptos"/>
              </a:rPr>
              <a:t>Rows 1-72 come from MATCH_SCHEDULE plus ratings; rows 73-104 reflect current knockout teams and selected winners.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BB1097-309C-4C6D-AC5F-C7CC4F705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24100"/>
            <a:ext cx="236220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58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627A40-EAD1-4B6D-B4EB-DBD06C2B9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336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6B5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6B5E"/>
                </a:solidFill>
                <a:latin typeface="Aptos"/>
                <a:ea typeface="Aptos"/>
                <a:cs typeface="Aptos"/>
              </a:rPr>
              <a:t>Coverage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63D620-4D66-46EE-B930-31364A0C3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71800"/>
            <a:ext cx="2000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Matches 1-72: group stage\nMatches 73-104: knockouts, third place, final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2461DC-301B-47DE-8B2A-0733B1207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324100"/>
            <a:ext cx="236220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58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996358-D2E7-447F-BD39-B012582A4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5336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6B5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6B5E"/>
                </a:solidFill>
                <a:latin typeface="Aptos"/>
                <a:ea typeface="Aptos"/>
                <a:cs typeface="Aptos"/>
              </a:rPr>
              <a:t>Identity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33848A-0531-412D-93FE-4C5A8D27D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971800"/>
            <a:ext cx="2000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match_number, stage, match_date, match_time, venue, team_1, team_2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8D9A1C-6C3E-403A-824D-DC0371AD6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24100"/>
            <a:ext cx="236220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58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0BD8FC-28D5-4FBD-A4C1-2E392424D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336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6B5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6B5E"/>
                </a:solidFill>
                <a:latin typeface="Aptos"/>
                <a:ea typeface="Aptos"/>
                <a:cs typeface="Aptos"/>
              </a:rPr>
              <a:t>Prediction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B9FFFB-070C-45F4-ABF9-BED4E3416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71800"/>
            <a:ext cx="2000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team_1_win_probability, team_2_win_probability, predicted_winner, winner_probability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3C419A-5CD0-4213-AEDE-AAFD2A9B7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324100"/>
            <a:ext cx="236220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58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33916D-7C1B-43E2-ADE8-86B7A0930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5336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6B5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6B5E"/>
                </a:solidFill>
                <a:latin typeface="Aptos"/>
                <a:ea typeface="Aptos"/>
                <a:cs typeface="Aptos"/>
              </a:rPr>
              <a:t>Score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1FC759-FA50-4CE8-B513-4E5AF9413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971800"/>
            <a:ext cx="2000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result, team_1_goals, team_2_goals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569D34-8CBB-41A8-9C92-8370B475B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10150"/>
            <a:ext cx="9906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F6C7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F6C7D"/>
                </a:solidFill>
                <a:latin typeface="Aptos"/>
                <a:ea typeface="Aptos"/>
                <a:cs typeface="Aptos"/>
              </a:rPr>
              <a:t>Implementation note: teamAliases reconciles schedule names such as South Korea and United States to app team names such as Korea Republic and USA.</a:t>
            </a:r>
          </a:p>
        </p:txBody>
      </p:sp>
    </p:spTree>
    <p:extLst>
      <p:ext uri="{BB962C8B-B14F-4D97-AF65-F5344CB8AC3E}">
        <p14:creationId xmlns:p14="http://schemas.microsoft.com/office/powerpoint/2010/main" val="19394378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DE186A-5E9F-4331-AF1D-127DDD88A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338D79-33E9-4215-90DD-F7CBD7242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B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D5B6DB-D423-4038-887C-5F44E2066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447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C7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C7D"/>
                </a:solidFill>
                <a:latin typeface="Aptos"/>
                <a:ea typeface="Aptos"/>
                <a:cs typeface="Aptos"/>
              </a:rPr>
              <a:t>World Cup 2026 Predictor logic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186ADE-8A80-4797-B2DB-FBABA0DA0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B6B5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6B5E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4C68897-7982-4445-8062-8D76655CF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A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264BAA9-837B-4C7E-A58D-DC2002D9C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6B5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6B5E"/>
                </a:solidFill>
                <a:latin typeface="Aptos"/>
                <a:ea typeface="Aptos"/>
                <a:cs typeface="Aptos"/>
              </a:rPr>
              <a:t>MAINTENANCE MAP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CCBA91-9297-4668-B8EC-669DC114E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8858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12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8212F"/>
                </a:solidFill>
                <a:latin typeface="Aptos Display"/>
                <a:ea typeface="Aptos Display"/>
                <a:cs typeface="Aptos Display"/>
              </a:rPr>
              <a:t>The main risks are logic duplication, alias drift, and score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C576E3-71BD-4B95-8E8E-365672A60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33550"/>
            <a:ext cx="8572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C7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C7D"/>
                </a:solidFill>
                <a:latin typeface="Aptos"/>
                <a:ea typeface="Aptos"/>
                <a:cs typeface="Aptos"/>
              </a:rPr>
              <a:t>The current implementation works, but future changes should reduce repeated export code between Full and Guided modes.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F4D44E-736B-491A-A678-03B987741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66950"/>
            <a:ext cx="44386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58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2F1D0E-C744-4FBB-A9DF-34C2B3A7E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193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6B5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6B5E"/>
                </a:solidFill>
                <a:latin typeface="Aptos"/>
                <a:ea typeface="Aptos"/>
                <a:cs typeface="Aptos"/>
              </a:rPr>
              <a:t>Duplication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08D45F-7F43-42BA-A108-C41DFE98E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24150"/>
            <a:ext cx="4095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app.js and guided.js now carry similar CSV helpers.\nControl: extract a shared static module if the app adds bundling or ES modules.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811ACC-AE3D-4731-941A-37917D4A1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24300"/>
            <a:ext cx="44386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58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E37128-6B2F-41F4-BAE2-E932B9752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7670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6B5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6B5E"/>
                </a:solidFill>
                <a:latin typeface="Aptos"/>
                <a:ea typeface="Aptos"/>
                <a:cs typeface="Aptos"/>
              </a:rPr>
              <a:t>Alias drift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1EDA16-9E44-45C1-A94A-6CC0F3D0C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81500"/>
            <a:ext cx="4095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Schedule names and displayed team names differ.\nControl: centralize aliases next to team metadata or expose a server-provided lookup.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C13891-25D0-4D7E-AD1E-57AA53AFE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66950"/>
            <a:ext cx="44386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58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11AD63-67FD-42A4-BE06-9B4757BCE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193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6B5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6B5E"/>
                </a:solidFill>
                <a:latin typeface="Aptos"/>
                <a:ea typeface="Aptos"/>
                <a:cs typeface="Aptos"/>
              </a:rPr>
              <a:t>Score semantics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F7C7B3-5887-4E4C-B7E5-7DE7A0680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24150"/>
            <a:ext cx="4095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Goals are deterministic estimates, not sampled events.\nControl: label exported goals as predicted/estimated or add a true simulator later.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5A584C-968A-4803-90A4-7930C10DC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24300"/>
            <a:ext cx="44386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58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BE9CDF-DD1A-4555-9354-EA56D2F34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7670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6B5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6B5E"/>
                </a:solidFill>
                <a:latin typeface="Aptos"/>
                <a:ea typeface="Aptos"/>
                <a:cs typeface="Aptos"/>
              </a:rPr>
              <a:t>State persistence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7574C6-E178-48FB-AAFE-B9AB2A4FF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381500"/>
            <a:ext cx="4095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Browser state disappears on refresh.\nControl: save scenarios in localStorage or backend if repeatability matters.</a:t>
            </a:r>
          </a:p>
        </p:txBody>
      </p:sp>
    </p:spTree>
    <p:extLst>
      <p:ext uri="{BB962C8B-B14F-4D97-AF65-F5344CB8AC3E}">
        <p14:creationId xmlns:p14="http://schemas.microsoft.com/office/powerpoint/2010/main" val="8637885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2026-06-06T16:12:03.2530000Z</dcterms:created>
  <dcterms:modified xsi:type="dcterms:W3CDTF">2026-06-06T16:12:03.2530000Z</dcterms:modified>
</coreProperties>
</file>